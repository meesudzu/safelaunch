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74f1806bb74107" /><Relationship Type="http://schemas.openxmlformats.org/officeDocument/2006/relationships/extended-properties" Target="/docProps/app.xml" Id="Rd73245a941094838" /><Relationship Type="http://schemas.openxmlformats.org/officeDocument/2006/relationships/officeDocument" Target="/ppt/presentation.xml" Id="Rdb7689c1ac1243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ec1c57f9e4ec0"/>
  </p:sldMasterIdLst>
  <p:notesMasterIdLst>
    <p:notesMasterId xmlns:r="http://schemas.openxmlformats.org/officeDocument/2006/relationships" r:id="Rfaa69156b90d4af6"/>
  </p:notesMasterIdLst>
  <p:sldIdLst>
    <p:sldId xmlns:r="http://schemas.openxmlformats.org/officeDocument/2006/relationships" id="256" r:id="R5535cbf740484d7a"/>
    <p:sldId xmlns:r="http://schemas.openxmlformats.org/officeDocument/2006/relationships" id="257" r:id="R5a8a64e59ec94f6d"/>
    <p:sldId xmlns:r="http://schemas.openxmlformats.org/officeDocument/2006/relationships" id="258" r:id="R166a6ee966ad4133"/>
    <p:sldId xmlns:r="http://schemas.openxmlformats.org/officeDocument/2006/relationships" id="259" r:id="R246092e111de4cde"/>
    <p:sldId xmlns:r="http://schemas.openxmlformats.org/officeDocument/2006/relationships" id="260" r:id="Re86ddbfeedb849a3"/>
    <p:sldId xmlns:r="http://schemas.openxmlformats.org/officeDocument/2006/relationships" id="261" r:id="R1afe3af4b717497b"/>
    <p:sldId xmlns:r="http://schemas.openxmlformats.org/officeDocument/2006/relationships" id="262" r:id="R079b9d54c4504b45"/>
    <p:sldId xmlns:r="http://schemas.openxmlformats.org/officeDocument/2006/relationships" id="263" r:id="R1e69f84bc157454a"/>
    <p:sldId xmlns:r="http://schemas.openxmlformats.org/officeDocument/2006/relationships" id="264" r:id="R57282fd5b7144bf9"/>
    <p:sldId xmlns:r="http://schemas.openxmlformats.org/officeDocument/2006/relationships" id="265" r:id="R373ad07cfc764211"/>
    <p:sldId xmlns:r="http://schemas.openxmlformats.org/officeDocument/2006/relationships" id="266" r:id="Rac624167d32b40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d70da4a58f4599" /><Relationship Type="http://schemas.openxmlformats.org/officeDocument/2006/relationships/slideMaster" Target="/ppt/slideMasters/slideMaster1.xml" Id="R6cdec1c57f9e4ec0" /><Relationship Type="http://schemas.openxmlformats.org/officeDocument/2006/relationships/notesMaster" Target="/ppt/notesMasters/notesMaster1.xml" Id="Rfaa69156b90d4af6" /><Relationship Type="http://schemas.openxmlformats.org/officeDocument/2006/relationships/presProps" Target="/ppt/presProps.xml" Id="R7014529e88244ef9" /><Relationship Type="http://schemas.openxmlformats.org/officeDocument/2006/relationships/tableStyles" Target="/ppt/tableStyles.xml" Id="R255fdd81d10145df" /><Relationship Type="http://schemas.openxmlformats.org/officeDocument/2006/relationships/slide" Target="/ppt/slides/slide1.xml" Id="R5535cbf740484d7a" /><Relationship Type="http://schemas.openxmlformats.org/officeDocument/2006/relationships/slide" Target="/ppt/slides/slide2.xml" Id="R5a8a64e59ec94f6d" /><Relationship Type="http://schemas.openxmlformats.org/officeDocument/2006/relationships/slide" Target="/ppt/slides/slide3.xml" Id="R166a6ee966ad4133" /><Relationship Type="http://schemas.openxmlformats.org/officeDocument/2006/relationships/slide" Target="/ppt/slides/slide4.xml" Id="R246092e111de4cde" /><Relationship Type="http://schemas.openxmlformats.org/officeDocument/2006/relationships/slide" Target="/ppt/slides/slide5.xml" Id="Re86ddbfeedb849a3" /><Relationship Type="http://schemas.openxmlformats.org/officeDocument/2006/relationships/slide" Target="/ppt/slides/slide6.xml" Id="R1afe3af4b717497b" /><Relationship Type="http://schemas.openxmlformats.org/officeDocument/2006/relationships/slide" Target="/ppt/slides/slide7.xml" Id="R079b9d54c4504b45" /><Relationship Type="http://schemas.openxmlformats.org/officeDocument/2006/relationships/slide" Target="/ppt/slides/slide8.xml" Id="R1e69f84bc157454a" /><Relationship Type="http://schemas.openxmlformats.org/officeDocument/2006/relationships/slide" Target="/ppt/slides/slide9.xml" Id="R57282fd5b7144bf9" /><Relationship Type="http://schemas.openxmlformats.org/officeDocument/2006/relationships/slide" Target="/ppt/slides/slide10.xml" Id="R373ad07cfc764211" /><Relationship Type="http://schemas.openxmlformats.org/officeDocument/2006/relationships/slide" Target="/ppt/slides/slide11.xml" Id="Rac624167d32b40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627d0e6d704a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7818161cd4453" /><Relationship Type="http://schemas.openxmlformats.org/officeDocument/2006/relationships/notesMaster" Target="/ppt/notesMasters/notesMaster1.xml" Id="R47590be2711c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47635d23149a0" /><Relationship Type="http://schemas.openxmlformats.org/officeDocument/2006/relationships/notesMaster" Target="/ppt/notesMasters/notesMaster1.xml" Id="Rea9f06cca1cb4c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4790588e2429f" /><Relationship Type="http://schemas.openxmlformats.org/officeDocument/2006/relationships/notesMaster" Target="/ppt/notesMasters/notesMaster1.xml" Id="R8cf9abcfab6544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c51b5b0e1f47d4" /><Relationship Type="http://schemas.openxmlformats.org/officeDocument/2006/relationships/notesMaster" Target="/ppt/notesMasters/notesMaster1.xml" Id="R3bb242e0506f41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8d4dfbcf784f71" /><Relationship Type="http://schemas.openxmlformats.org/officeDocument/2006/relationships/notesMaster" Target="/ppt/notesMasters/notesMaster1.xml" Id="Rd0ccd539707e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bb80c014574677" /><Relationship Type="http://schemas.openxmlformats.org/officeDocument/2006/relationships/notesMaster" Target="/ppt/notesMasters/notesMaster1.xml" Id="Rf848dab2bca0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9e0e1cce442f8" /><Relationship Type="http://schemas.openxmlformats.org/officeDocument/2006/relationships/notesMaster" Target="/ppt/notesMasters/notesMaster1.xml" Id="Rea92bcd893ac4e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fd8f77050a41b0" /><Relationship Type="http://schemas.openxmlformats.org/officeDocument/2006/relationships/notesMaster" Target="/ppt/notesMasters/notesMaster1.xml" Id="R33a870093dec47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0fb891cff14988" /><Relationship Type="http://schemas.openxmlformats.org/officeDocument/2006/relationships/notesMaster" Target="/ppt/notesMasters/notesMaster1.xml" Id="Ra71bf48e604b44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f4237d0a4b416a" /><Relationship Type="http://schemas.openxmlformats.org/officeDocument/2006/relationships/notesMaster" Target="/ppt/notesMasters/notesMaster1.xml" Id="Rf3f9980f9c1745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672b3ed97448d0" /><Relationship Type="http://schemas.openxmlformats.org/officeDocument/2006/relationships/notesMaster" Target="/ppt/notesMasters/notesMaster1.xml" Id="R4adc2bdfe5b4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17d5f6b5c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625c12c64419f" /><Relationship Type="http://schemas.openxmlformats.org/officeDocument/2006/relationships/slideLayout" Target="/ppt/slideLayouts/slideLayout1.xml" Id="Rd84a72e152ea48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a72e152ea48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1cceebb724e31" /><Relationship Type="http://schemas.openxmlformats.org/officeDocument/2006/relationships/notesSlide" Target="/ppt/notesSlides/notesSlide1.xml" Id="R37b92224fdc04a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718eca2894733" /><Relationship Type="http://schemas.openxmlformats.org/officeDocument/2006/relationships/notesSlide" Target="/ppt/notesSlides/notesSlide2.xml" Id="R6f206f237e6a43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667b45d6e44ac" /><Relationship Type="http://schemas.openxmlformats.org/officeDocument/2006/relationships/notesSlide" Target="/ppt/notesSlides/notesSlide3.xml" Id="R5caaa48dad9a46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c95dfedb4125" /><Relationship Type="http://schemas.openxmlformats.org/officeDocument/2006/relationships/notesSlide" Target="/ppt/notesSlides/notesSlide4.xml" Id="Rd048eac2a2d84b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13ea0c3f34dfd" /><Relationship Type="http://schemas.openxmlformats.org/officeDocument/2006/relationships/notesSlide" Target="/ppt/notesSlides/notesSlide5.xml" Id="Rbb94f121aa0540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7176280544bd0" /><Relationship Type="http://schemas.openxmlformats.org/officeDocument/2006/relationships/notesSlide" Target="/ppt/notesSlides/notesSlide6.xml" Id="Rd9e32d62c8dc4a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3f409c6984681" /><Relationship Type="http://schemas.openxmlformats.org/officeDocument/2006/relationships/notesSlide" Target="/ppt/notesSlides/notesSlide7.xml" Id="R654a03510a104f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4ea4ab67424c" /><Relationship Type="http://schemas.openxmlformats.org/officeDocument/2006/relationships/notesSlide" Target="/ppt/notesSlides/notesSlide8.xml" Id="Ra9b95d26041c44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cf8aa8370436f" /><Relationship Type="http://schemas.openxmlformats.org/officeDocument/2006/relationships/notesSlide" Target="/ppt/notesSlides/notesSlide9.xml" Id="R04b9ce78a8c1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aee8b30104f50" /><Relationship Type="http://schemas.openxmlformats.org/officeDocument/2006/relationships/notesSlide" Target="/ppt/notesSlides/notesSlide10.xml" Id="Reb208af55d3b4d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b59db0cd9431e" /><Relationship Type="http://schemas.openxmlformats.org/officeDocument/2006/relationships/notesSlide" Target="/ppt/notesSlides/notesSlide11.xml" Id="Rc04eb6421d4e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D5D60-6AC5-48EC-BBB6-A6F352C7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E9B5"/>
                </a:solidFill>
              </a:defRPr>
            </a:pPr>
            <a:r>
              <a:rPr sz="825" b="1">
                <a:solidFill>
                  <a:srgbClr val="5EE9B5"/>
                </a:solidFill>
              </a:rPr>
              <a:t>SAFELAUNCH ·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CE0BD-D0D4-447F-AEAD-796296D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Ra mắt toàn cầu.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Tuân thủ ngay từ đầu.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B585A-5592-4265-9880-356E6B68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i="1">
                <a:solidFill>
                  <a:srgbClr val="CAD5E2"/>
                </a:solidFill>
              </a:defRPr>
            </a:pPr>
            <a:r>
              <a:rPr sz="1650" i="1">
                <a:solidFill>
                  <a:srgbClr val="CAD5E2"/>
                </a:solidFill>
              </a:rPr>
              <a:t>Launch globally. Compliant from day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D1653-B674-4522-A28B-C319E76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0A1B9"/>
                </a:solidFill>
              </a:defRPr>
            </a:pPr>
            <a:r>
              <a:rPr sz="1200">
                <a:solidFill>
                  <a:srgbClr val="90A1B9"/>
                </a:solidFill>
              </a:rPr>
              <a:t>An AI-assisted legal risk screening platform for Vietnam-first</a:t>
            </a:r>
          </a:p>
          <a:p xmlns:a="http://schemas.openxmlformats.org/drawingml/2006/main">
            <a:pPr>
              <a:defRPr sz="1200">
                <a:solidFill>
                  <a:srgbClr val="90A1B9"/>
                </a:solidFill>
              </a:defRPr>
            </a:pPr>
            <a:r>
              <a:rPr sz="1200">
                <a:solidFill>
                  <a:srgbClr val="90A1B9"/>
                </a:solidFill>
              </a:rPr>
              <a:t>online games, electronic press, and digital entertainment platforms.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92E9-2CE7-4B68-AFDC-75844F64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48E"/>
                </a:solidFill>
              </a:defRPr>
            </a:pPr>
            <a:r>
              <a:rPr sz="750" b="1">
                <a:solidFill>
                  <a:srgbClr val="62748E"/>
                </a:solidFill>
              </a:rPr>
              <a:t>PREPARED · August 2026    ·    New Dawn · runany.dev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A350E-9646-4023-9818-9929FCAF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1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E32CF-EC4E-460B-B735-A5576FA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158381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A4D19-E88D-4F65-9A29-92D89922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CCD60-F553-4C71-9CB4-B5003D4C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Compliance gaps are caught too late.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1CED-D46B-4A8B-BD94-735EECA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Vietnam's online-game, e-press, and digital-entertainment sectors face 30+ overlapping regulations. Most teams discover gaps when regulators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656C-775F-4457-99C1-9D7EE99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DC65D-922C-4AEC-9906-3486ACC2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B4D00"/>
                </a:solidFill>
              </a:defRPr>
            </a:pPr>
            <a:r>
              <a:rPr sz="3600" b="1">
                <a:solidFill>
                  <a:srgbClr val="BB4D00"/>
                </a:solidFill>
              </a:rPr>
              <a:t>30+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6C80D-B510-4C19-ACC4-60D3358D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overlapping regulations across 3 sectors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C5DB4-B617-406A-A577-87893E5B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2571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25574-E396-4E95-BE2C-63B2FC87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$50k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F5B24-B711-4AD5-BE23-8684291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910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average cost to remediate after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EB991-C555-447A-82E6-7FA94458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2571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4C52C-6F89-450C-9AF6-0F3C15D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6 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B3BB4-663B-457A-A907-B816A9A6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median delay between launch and first notice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DD14B-5056-4E9C-AF13-77CFF353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571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88AAE-E1A6-4F3B-AC5F-5F484D06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7A55"/>
                </a:solidFill>
              </a:defRPr>
            </a:pPr>
            <a:r>
              <a:rPr sz="3600" b="1">
                <a:solidFill>
                  <a:srgbClr val="007A55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AC5BE-2CA0-4D60-9647-39C09EC3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91000"/>
            <a:ext cx="2114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free, citation-backed pre-launch checkers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34C33-34D8-4BBF-87A9-9DC3B723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2 /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16C7E-8710-44AF-A338-DED3C9A0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6392175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840B3-960F-4A92-91F9-26E1F9F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OUR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82964-4E65-489C-9CC0-DA0E9E4C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AI-assisted pre-launch compliance screening.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713ED-4897-488A-910C-0F7813D1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Paste a URL. Within 60 seconds get a bilingual report — every finding cites the underlying Vietnamese legal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84768-8E90-4D7C-B1E7-0BB67AC5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5052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5A0B7-40F1-485F-9A70-3A9F2C44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DF144-9435-409A-8E57-8C1673E7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Evidence-first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DE346-6DB7-48F7-A186-E0B56DAF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Every claim is paired with article + URL + retrieval date. No hand-waving. No legal advice.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D1B0C-B919-4845-B5CB-29A0D426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35052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34601-0701-4915-9EE7-1F1D7A5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0485B-43E7-47F9-B505-86D8C700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Deterministic +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1496C-A92E-4986-B8D9-D654369D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Rubric-driven rules engine for objective omissions; RAG over approved vbpl.vn corpus for interpretive findings.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BD2FD-4FD6-4A50-A1BD-768DA7B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5052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832EA-EC98-4FB6-B991-3677C28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8645B-7E8C-474C-ADE7-A1168993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Privacy by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9027-2147-4D0B-A407-85392EF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Hashed identifiers for rate-limit counters. Type-level privacy guards in the observability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1B19B-5BB3-4AD9-B2C6-BFF50AB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3 /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BE264-780C-429C-AB5B-A7331CF6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47587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51E87-5B7A-4158-AA05-EF317D00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USER FLOW · 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F82FD-CDEF-48E1-A87C-49093E1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From URL to evidence-backed report in under 60 seconds.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638E0-B451-4472-A9F7-1B69D8B0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D955-68CC-4D35-A70B-1B6712DF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5EF20-3811-498D-AFCD-F1175D78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987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0A1B9"/>
                </a:solidFill>
              </a:defRPr>
            </a:pPr>
            <a:r>
              <a:rPr sz="180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D8BAB-0305-48E3-AE85-DFC2D0C2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11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Submit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38CFE-D683-4E80-88BD-25B2AC1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Paste URL + pick category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816BD-8006-47B9-8A24-63E9BBD1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6670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739FB-043E-4450-937F-DCC428D3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A271B-1E07-4A77-A789-BE1B90C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80987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0A1B9"/>
                </a:solidFill>
              </a:defRPr>
            </a:pPr>
            <a:r>
              <a:rPr sz="180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8F5B9-DADF-4A20-9B9D-4E22018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619500"/>
            <a:ext cx="2011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Fetch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96A70-C2F8-47D0-BEE1-5BC6C22D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400050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Safe-fetch homepage + 4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C72A5-BB85-4909-B1BC-629FEE5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6670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033AC-9715-483F-9D55-4C99CC7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2B292-65E3-41A3-AF34-A9B2B17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80987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0A1B9"/>
                </a:solidFill>
              </a:defRPr>
            </a:pPr>
            <a:r>
              <a:rPr sz="180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5DEE9-383F-498A-80E4-C0F3D4DD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619500"/>
            <a:ext cx="2011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70015-AB47-4FD1-ABBD-A0F6788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400050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Deterministic rules + LLM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84AE3-D1BB-4DEE-8C4F-07040A7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26670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49017-7395-463E-A8B7-1B05DC9B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EA466-097D-4F02-BEAE-71E89328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809875"/>
            <a:ext cx="30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0A1B9"/>
                </a:solidFill>
              </a:defRPr>
            </a:pPr>
            <a:r>
              <a:rPr sz="180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94247-FEBC-4AE0-902C-19C45F21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3619500"/>
            <a:ext cx="2011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91616-3A07-4784-8900-8A2D6A4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440" y="400050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Citation + legalQuote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7DCC9-B15B-4AA6-8D45-E098D32A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667000"/>
            <a:ext cx="762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E71C4C-B341-4AD5-AAED-3F2177D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633DC-A2F6-4EA6-837C-ECE5C02E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3619500"/>
            <a:ext cx="2011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CE5A6-6905-451B-A6EF-0501EBC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4000500"/>
            <a:ext cx="201168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Bilingual vi/en, single-use link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F9074-EA2F-4732-9CD4-F7E8CC2D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90A1B9"/>
                </a:solidFill>
              </a:defRPr>
            </a:pPr>
            <a:r>
              <a:rPr sz="900" i="1">
                <a:solidFill>
                  <a:srgbClr val="90A1B9"/>
                </a:solidFill>
              </a:rPr>
              <a:t>P95 ≤ 60 s · No account · No payment · Source-attributed answers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A96FB-3F5C-479E-8B21-653C3313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4 / 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9B36A-5757-4817-986E-9B85F3C2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834246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6D8FF5-FA61-417A-9102-4F37D75E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A9BB1-F1EC-4CF5-9A75-362887F7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Serverless on Cloudflare's edge.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CA332-4D06-4902-84D0-A75BB98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One Worker for the API + one Next.js Worker for the web. 8 Cloudflare bindings. No VMs.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3089-527A-47C2-8EF5-5722AFE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D0527-ED02-4843-B848-D004A91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126F5-0A98-452B-AE9C-DF52CF7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9403-B5DA-41FF-AF72-F9E831CE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6700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browser → safelaunch.runany.dev (Next.js + OpenNext)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872D9-65F0-48EE-8F5B-D15F45AA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DCE96-D6EA-43CE-AEAF-698A8B2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3B8C1-2610-4FEF-9B1D-65BCFDD0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C6E2A-EC8F-47A0-B731-DFD25F24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2818A-F157-403B-808A-311B745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7660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safelaunch-api.runany.dev → Hono on Cloudflare Workers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F35C1-CA66-4D2C-A3A0-25520C70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C2273-EF10-4447-B8B1-CB0AA9C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84E76-B6F8-45EC-A6AA-14C85953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10A42-5CAF-4231-95E1-82F7A8FA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488D8-7F76-4DBF-8124-F9DFE37D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8620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scan-workflow (Cloudflare Workflows) — orchestrates 6 stages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A9523-0536-415F-8C03-FA19D476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624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9F925-67DC-4C47-9831-7A5698B9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504A1-DDB6-4BBA-8687-00A6BCE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1411F-3691-43E2-A793-A5E0CC8E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160B2-48E4-4D70-8CE4-218C810C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9580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Workers AI · Vectorize (768-dim embeddings) · 4 rubric rules · RAG verifier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87C5E-49E4-44ED-BD50-A9E7422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0A1B9"/>
                </a:solidFill>
              </a:defRPr>
            </a:pPr>
            <a:r>
              <a:rPr sz="1050">
                <a:solidFill>
                  <a:srgbClr val="90A1B9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C6CB33-D389-43DC-B705-097A36B6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E93EB-0B29-4FBD-9351-A06506C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9CA88-4BF2-4EA3-940A-12676DD4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A11D66-D88A-461F-B9FA-B797EC3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973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20618"/>
                </a:solidFill>
              </a:defRPr>
            </a:pPr>
            <a:r>
              <a:rPr sz="1050">
                <a:solidFill>
                  <a:srgbClr val="020618"/>
                </a:solidFill>
              </a:rPr>
              <a:t>D1 (13 tables) · R2 (snapshots) · Durable Objects (rate-limit) · Queue (ingest)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79269-BE1A-432E-9125-1B2C8CBF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5 / 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C6E33-67D0-479E-9E1A-5A206B9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590252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632AA7-4568-4574-9755-3547A32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COMPLIANCE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44ED7-C454-41E1-8B97-6B3E77D5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Deterministic rubric + RAG over the legal corpus.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C14F3-27F8-4107-89D4-E0794E94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Every finding carries a citation. Every high-risk claim is independently verified against the provision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B4FC6-823E-4B86-85EB-1A308E9C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E6416-FB1F-4AF2-B698-772DFBC3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2B395-D6E9-448F-9822-E2391497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62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Title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3537-D5CF-4FD7-BE99-F44A807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62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1F2BC-4FBD-4155-B3B6-AD387F0C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3D1C1-FA16-469D-BEDE-349D229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38F20-7DDB-4AD7-8CEB-59F07894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AB3B9-98F6-43E6-BD02-CA02290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55"/>
                </a:solidFill>
              </a:defRPr>
            </a:pPr>
            <a:r>
              <a:rPr sz="975" b="1">
                <a:solidFill>
                  <a:srgbClr val="007A55"/>
                </a:solidFill>
              </a:rPr>
              <a:t>R-PRIV-1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F9FF3-243E-4B0E-BE53-6107DCCA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20618"/>
                </a:solidFill>
              </a:defRPr>
            </a:pPr>
            <a:r>
              <a:rPr sz="975">
                <a:solidFill>
                  <a:srgbClr val="020618"/>
                </a:solidFill>
              </a:rPr>
              <a:t>Privacy notice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0A4B2-FE79-4811-8D82-9F28E7DD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Nghị định 13/2023/NĐ-CP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886B3-9E78-4CE2-A8B9-EBE8D7DD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05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online_game · e_press · d_entertainment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DB48C-B590-491A-B606-B58E772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A55"/>
                </a:solidFill>
              </a:defRPr>
            </a:pPr>
            <a:r>
              <a:rPr sz="900" b="1">
                <a:solidFill>
                  <a:srgbClr val="007A55"/>
                </a:solidFill>
              </a:rPr>
              <a:t>●  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841DA-1AB0-416A-8694-B615DC6B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48A2C-9285-4F0F-BD22-634CD19A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55"/>
                </a:solidFill>
              </a:defRPr>
            </a:pPr>
            <a:r>
              <a:rPr sz="975" b="1">
                <a:solidFill>
                  <a:srgbClr val="007A55"/>
                </a:solidFill>
              </a:rPr>
              <a:t>R-OPID-1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D5F51-364B-423A-B1FE-EF958DEB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6004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20618"/>
                </a:solidFill>
              </a:defRPr>
            </a:pPr>
            <a:r>
              <a:rPr sz="975">
                <a:solidFill>
                  <a:srgbClr val="020618"/>
                </a:solidFill>
              </a:rPr>
              <a:t>Operator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4C230-CC73-456C-8428-A8DED4D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Nghị định 72/2013/NĐ-CP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5B78C-8D7E-4DFE-A5CC-08109C0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0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online_game · e_press · d_entertainment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EF5F9-7983-4182-A3D8-357C258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A55"/>
                </a:solidFill>
              </a:defRPr>
            </a:pPr>
            <a:r>
              <a:rPr sz="900" b="1">
                <a:solidFill>
                  <a:srgbClr val="007A55"/>
                </a:solidFill>
              </a:rPr>
              <a:t>●  active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8B2E7-3CE3-4958-A77F-1D1F5B9F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AC3B71-557F-4413-984F-60751E0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55"/>
                </a:solidFill>
              </a:defRPr>
            </a:pPr>
            <a:r>
              <a:rPr sz="975" b="1">
                <a:solidFill>
                  <a:srgbClr val="007A55"/>
                </a:solidFill>
              </a:rPr>
              <a:t>R-CONT-1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77F29-678C-4AD5-AA2B-7E58651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9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20618"/>
                </a:solidFill>
              </a:defRPr>
            </a:pPr>
            <a:r>
              <a:rPr sz="975">
                <a:solidFill>
                  <a:srgbClr val="020618"/>
                </a:solidFill>
              </a:rPr>
              <a:t>Contact channel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05E21-DE09-464A-BED4-20462AAF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Luật ATTM 2015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E3C72E-6899-4E3C-81E9-1E393FA4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95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online_game · e_press · d_entertainment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1F625-B81F-4896-AD50-A118FDA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A55"/>
                </a:solidFill>
              </a:defRPr>
            </a:pPr>
            <a:r>
              <a:rPr sz="900" b="1">
                <a:solidFill>
                  <a:srgbClr val="007A55"/>
                </a:solidFill>
              </a:rPr>
              <a:t>●  active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A45A02-8248-43B5-94E9-2758D04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638808-7890-4607-A8F8-6392B2B5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55"/>
                </a:solidFill>
              </a:defRPr>
            </a:pPr>
            <a:r>
              <a:rPr sz="975" b="1">
                <a:solidFill>
                  <a:srgbClr val="007A55"/>
                </a:solidFill>
              </a:rPr>
              <a:t>R-LIC-1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EDF09-1193-4275-AB7D-82F64546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910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20618"/>
                </a:solidFill>
              </a:defRPr>
            </a:pPr>
            <a:r>
              <a:rPr sz="975">
                <a:solidFill>
                  <a:srgbClr val="020618"/>
                </a:solidFill>
              </a:rPr>
              <a:t>Game license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D5856-6879-4BBF-946A-973A97AA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9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Nghị định 72/2013/NĐ-CP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7C1257-3278-4D04-A323-F6477E7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910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online_game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8FDDC-0DF6-4B92-A5C5-71FA33E3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10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A55"/>
                </a:solidFill>
              </a:defRPr>
            </a:pPr>
            <a:r>
              <a:rPr sz="900" b="1">
                <a:solidFill>
                  <a:srgbClr val="007A55"/>
                </a:solidFill>
              </a:rPr>
              <a:t>●  active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4E5BA-0E09-49B3-9DB3-4EFF4581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90A1B9"/>
                </a:solidFill>
              </a:defRPr>
            </a:pPr>
            <a:r>
              <a:rPr sz="825" i="1">
                <a:solidFill>
                  <a:srgbClr val="90A1B9"/>
                </a:solidFill>
              </a:rPr>
              <a:t>All 4 rules backed by approved vbpl.vn provisions in D1 (seeded 2026-08-03). Vectorize embeddings pending — see Tier 1 #1.2.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72D9E6-8CF0-4E7A-81B6-B934756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6 / 11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B506BC-3851-4BB0-8BE3-BEF57EC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378639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727AE-096A-489D-92A6-CB4DDF5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PRIVACY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F0F85-4205-4F6E-B53A-ED764F0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Type-level guarantees. No logged PII.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B6C80-BD5C-414B-B6E6-88026A93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The TypeScript compiler refuses to compile any log call that would leak a URL path, request body, or report token.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08760-B146-479C-8E38-8BB816DC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DB25B-278B-4ABD-8AA1-258C3CC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LogEvent.path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93263-004F-48B7-83A4-C3B5F37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Never. toLogEvent helper enforces `path?: never` at the type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186E6-B871-4E68-8434-A123681E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EE354-39B6-4F38-850C-D310FD9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LogEvent.url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0E372-8BC5-4A6C-B7A8-6488517A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Never. Same guard. IP/host/UA are hashed before any observability surface.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E4C9E-2654-4E2F-8E06-38674CE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3B876-ED6E-466D-8BDA-4374A19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LogEvent.token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B3C62-06C7-4970-ACD7-D4E6B639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Never. Reports are single-use; the hash is the only persisted identifier.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939BD-8711-4F50-8EED-9CD655CE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3BCD1-B96B-48F5-BA6C-57E8381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LogEvent.body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45F69-1C35-47D7-A2DD-CE52522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Never. Request bodies are never written to logs or counters.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AAA95-C548-4870-887D-3D88495B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0C300-CA07-494C-9731-48A1F90D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Data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7E8AB-12C2-4940-8B15-5C58BCE3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7-day D1 retention. No PII columns. URL only, hashed on read.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2FFFF-6D4C-48C7-8ADF-69F9A72F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372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DF18B-0608-4A40-8267-BCFDCE4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1">
                <a:solidFill>
                  <a:srgbClr val="007A55"/>
                </a:solidFill>
              </a:defRPr>
            </a:pPr>
            <a:r>
              <a:rPr sz="900" b="1" i="1">
                <a:solidFill>
                  <a:srgbClr val="007A55"/>
                </a:solidFill>
              </a:rPr>
              <a:t>Rate-limit keys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4784F-D26D-4E52-8448-21A6D21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38750"/>
            <a:ext cx="506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salted SHA-256 of (IP, hostname). DO never sees the raw 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817A5-0FE9-4AB1-8EAE-E9340E87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7 /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B0DF0-0316-490F-A3C1-6B4A89C8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748957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9C10D3-AFFA-4B0B-A420-B523167A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LIVE STATUS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D0158-3F5A-4AA1-9B35-B0C0D412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Already deployed. Awaiting Cloudflare Access on /admin/*.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FB99B-CB51-462A-8F06-095C54D6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API + Web live at custom domains. Hard gates green. 148/148 unit tests pass. Seeded 4-doc / 12-provision MVP corpus.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B39A-1849-4969-A99C-D79162C2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E8177-DDAF-493C-B393-F764EBB5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Typecheck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E28C4-4E34-443C-B72F-85C83BF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836F2-99ED-4FAC-8D5A-78DC76A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7A8A1-FDD5-417F-B28B-4DBCBADA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6 packages, all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95A58-32C1-4600-A47D-04088062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7C4B9-B28A-41EC-B8FD-E47AAE6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Lint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FF54E-EE58-4D9D-AA40-B144A217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A29F1-758D-4A55-8BDD-C3ABB736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B0AB3-EB2B-4818-86E2-CABE6BEC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6 packages, all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B5950-2D37-4313-8D24-362C8E13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02299-3D18-49BC-B0FB-60B03EA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Unit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18DD6-7A7C-4B78-907D-45DFECB1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94454-326D-4B27-A403-ED8F72DA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3F0EC-B8C2-4469-9CEF-E8B0DFE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480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148/148 (contracts · db · compliance-core · web · workers · ai)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12C7F-CE82-4C90-9C32-4711E5C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7DF55-AF54-4656-8008-D9BE787E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Worker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FD05E-ABCA-468A-AD5E-8881CBC2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481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45DA8-1B9D-4FF2-906D-36FA4D61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48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970DD-BCD3-4278-8840-035B5B2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909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wrangler dry-run · 614 KiB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2CBC9-548B-4BEB-AB64-09CC9EE2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CB516A-BDC1-494D-B683-B634345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Web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10DB3E-7BCC-4F7B-B96E-22828DE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910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2959D-5F45-472A-B8BF-D9D11B1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91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8C37D-CDFA-4D7F-9AEA-C4CB33F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338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Next.js · OpenNext · 22 assets · 3248 KiB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0D860D-4C24-4C94-9403-B4F6D0E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630A8-94DE-4BE7-BA7B-C3B66082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API 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EEABDB-A321-4D59-851E-B8F3308D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E8506-9063-451F-920B-01CB3CA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630E80-3E7D-46AE-BFA6-BE3AB8C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767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safelaunch-api.runany.dev/v1/health → 200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EEC2AB-EEAD-43CB-B944-0D27E7F6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7658FE-EC91-456D-88A2-BF91A92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App live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30FF5-09F6-490A-8056-808AFED2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76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AFA361-6C5B-4C5C-9777-9D0C7D2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76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16C2B3-E599-410A-B483-BD6198FB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196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safelaunch.runany.dev/vi → 200 (Vietnamese landing)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12685-FA7F-4682-88D2-40DE1B59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BBE4AA-24B4-41B7-9E01-3570228A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Cloudflare Access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F2ACED-B428-47E8-BDAA-904ACF5C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12B166-A302-431C-A0E8-AD75DC59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TODO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E3C586-B520-4A4D-9660-912231D9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625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admin/* not yet gated (Tier 1 #1.1)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4E4F21-04DD-410B-9C62-2B56D2F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891A0A-616D-4954-901A-3B3557CC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20618"/>
                </a:solidFill>
              </a:defRPr>
            </a:pPr>
            <a:r>
              <a:rPr sz="900" b="1">
                <a:solidFill>
                  <a:srgbClr val="020618"/>
                </a:solidFill>
              </a:rPr>
              <a:t>Vectorize embeddings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AF51D4-1BE7-47BA-ACDB-D9CF0ACE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626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0944EC-E45D-4759-BE9F-C3D113A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62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TODO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87249B-AB1C-49A4-AFD3-43E25CD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7734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5556C"/>
                </a:solidFill>
              </a:defRPr>
            </a:pPr>
            <a:r>
              <a:rPr sz="825">
                <a:solidFill>
                  <a:srgbClr val="45556C"/>
                </a:solidFill>
              </a:rPr>
              <a:t>12 provisions in D1, but vector_id is NULL (Tier 1 #1.2)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084800-174E-4FFD-89A5-2ECE936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8 / 11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8E4963-F990-48A9-ACDB-18935D7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1949413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D9167-E8D2-4FA2-B2CD-B47CD22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REMAINING WORK · PRIORITIZED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DD57F-E79F-4CD9-A4FC-28B84940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What ships before release. What ships after.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03B04-AFC4-4526-9BCB-0F29BB3E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Three tiers. Five Tier-1 items block the first announcement.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5A25A-6F83-494F-B49F-8F8190F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8D8EB-091A-4A6D-AD8A-626EB1FE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4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6E331-2639-460E-9285-63010C1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B4D00"/>
                </a:solidFill>
              </a:defRPr>
            </a:pPr>
            <a:r>
              <a:rPr sz="1050" b="1">
                <a:solidFill>
                  <a:srgbClr val="BB4D00"/>
                </a:solidFill>
              </a:rPr>
              <a:t>TIER 1 · before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F86F7-2798-48C6-884B-ABC6A116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1.1 Cloudflare Access on /admin/*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1.2 Vectorize embeddings for 12 provisions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1.3 /  vs  /vi  default home route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1.4 End-to-end smoke run on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340DC-620D-4A1A-AFD3-86A10A8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12667-17F7-4424-8840-1CF5B306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CFE5A-6F46-41E5-9370-BBE8639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TIER 2 · first week post-release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A63BE-1119-4FA5-A61B-E3D2E2A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2.1 Real vbpl.vn ingest pipeline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2.2 Eval gate end-to-end against Workers AI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2.3 Latency probe on production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2.4 Replace outdated README.md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2.5 Playwright e2e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08FF5-DB46-4F99-A4F3-5EF23349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B3FD7-9D5A-4BDE-A98C-18E14329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15D7F-8BAF-4AA7-8504-E964DF81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A55"/>
                </a:solidFill>
              </a:defRPr>
            </a:pPr>
            <a:r>
              <a:rPr sz="1050" b="1">
                <a:solidFill>
                  <a:srgbClr val="007A55"/>
                </a:solidFill>
              </a:rPr>
              <a:t>TIER 3 · no rush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90B46-1EE9-4629-B23C-58A94D15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3.1 Suppress workers_dev warning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3.2 Clean up 15 stale worktrees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3.3 Bump @types/node in apps/web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3.4 Scheduled cron for retention</a:t>
            </a:r>
          </a:p>
          <a:p xmlns:a="http://schemas.openxmlformats.org/drawingml/2006/main">
            <a:pPr>
              <a:defRPr sz="675">
                <a:solidFill>
                  <a:srgbClr val="45556C"/>
                </a:solidFill>
              </a:defRPr>
            </a:pPr>
            <a:r>
              <a:rPr sz="675">
                <a:solidFill>
                  <a:srgbClr val="45556C"/>
                </a:solidFill>
              </a:rPr>
              <a:t>3.5 Multi-jurisdiction expansion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BF72F-C5A5-4AE7-8C46-D12B86F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9 /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5AA4C-C403-4001-8AC6-72F35EE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15197972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0B275-BE55-4447-897F-74B7A668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5556C"/>
                </a:solidFill>
              </a:defRPr>
            </a:pPr>
            <a:r>
              <a:rPr sz="825" b="1">
                <a:solidFill>
                  <a:srgbClr val="45556C"/>
                </a:solidFill>
              </a:rPr>
              <a:t>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7AEC0-70CB-45B0-9BA0-7352B8C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Who owns what.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38FD2-6296-4295-B814-96EE3D69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Mapped to the repo layout. Cross-team review before any Tier-1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A3740-C7D8-4561-839B-6C04CCD0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68B7C-5A8B-45D6-9E37-AA939C8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A55"/>
                </a:solidFill>
              </a:defRPr>
            </a:pPr>
            <a:r>
              <a:rPr sz="4200" b="1">
                <a:solidFill>
                  <a:srgbClr val="007A55"/>
                </a:solidFill>
              </a:rPr>
              <a:t>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402E1-D0B8-4B02-AF1C-41A29565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6DD92-B1A3-4F77-8692-FFD29F8C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Worker API, scan workflow, AI provider, D1 schema, eval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7B32E-551A-4518-9B58-A0F360ED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A4F1-7432-4D94-A5C8-A65A5767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A55"/>
                </a:solidFill>
              </a:defRPr>
            </a:pPr>
            <a:r>
              <a:rPr sz="4200" b="1">
                <a:solidFill>
                  <a:srgbClr val="007A55"/>
                </a:solidFill>
              </a:rPr>
              <a:t>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B8623-69A8-4E32-9046-6273016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C52AC-6770-49B7-8CEF-755E9B5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Next.js app, admin console, e2e suite, design tokens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1DFCC-6EB2-4E6D-BE5A-2C2DDCF4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35B2D-A3CC-4CEF-9172-7646C0B3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A55"/>
                </a:solidFill>
              </a:defRPr>
            </a:pPr>
            <a:r>
              <a:rPr sz="4200" b="1">
                <a:solidFill>
                  <a:srgbClr val="007A55"/>
                </a:solidFill>
              </a:rPr>
              <a:t>OPS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3D135-2FD1-43F0-B8EC-56A308A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DCA5E-FCD2-48D0-B519-6DA783A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Cloudflare resources, CI/CD, Access policy, secrets, deploy rituals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B4606-BFF6-4963-AD3D-B2D5E56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9A3F7-618C-4003-B913-61B9644C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7A55"/>
                </a:solidFill>
              </a:defRPr>
            </a:pPr>
            <a:r>
              <a:rPr sz="4200" b="1">
                <a:solidFill>
                  <a:srgbClr val="007A55"/>
                </a:solidFill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5FE04-DE40-4E93-9E7F-D8F9F820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Data + Legal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4BBB8-4087-4258-A255-EA5FBDDD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86250"/>
            <a:ext cx="2114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5556C"/>
                </a:solidFill>
              </a:defRPr>
            </a:pPr>
            <a:r>
              <a:rPr sz="900">
                <a:solidFill>
                  <a:srgbClr val="45556C"/>
                </a:solidFill>
              </a:rPr>
              <a:t>vbpl.vn ingest, rubric authoring, benchmark cases, legal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48B5A-9D84-4D63-8793-61B8679F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i="1">
                <a:solidFill>
                  <a:srgbClr val="90A1B9"/>
                </a:solidFill>
              </a:defRPr>
            </a:pPr>
            <a:r>
              <a:rPr sz="825" i="1">
                <a:solidFill>
                  <a:srgbClr val="90A1B9"/>
                </a:solidFill>
              </a:rPr>
              <a:t>Full handoff in docs/remaining.md. Sign-off captain signs docs/releases/mvp-release-checklist.md §8 when Tier 1 is green.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071F1-CB77-48F2-BB1E-2DA8952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341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10 / 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25A13-7D19-428D-9AA6-9FDCB0A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0A1B9"/>
                </a:solidFill>
              </a:defRPr>
            </a:pPr>
            <a:r>
              <a:rPr sz="675">
                <a:solidFill>
                  <a:srgbClr val="90A1B9"/>
                </a:solidFill>
              </a:rPr>
              <a:t>SafeLaunch · MVP</a:t>
            </a:r>
          </a:p>
        </p:txBody>
      </p:sp>
    </p:spTree>
    <p:extLst>
      <p:ext uri="{BB962C8B-B14F-4D97-AF65-F5344CB8AC3E}">
        <p14:creationId xmlns:p14="http://schemas.microsoft.com/office/powerpoint/2010/main" val="2662892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F757-18E9-40EE-8543-4871AAB2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EE9B5"/>
                </a:solidFill>
              </a:defRPr>
            </a:pPr>
            <a:r>
              <a:rPr sz="825" b="1">
                <a:solidFill>
                  <a:srgbClr val="5EE9B5"/>
                </a:solidFill>
              </a:rPr>
              <a:t>SAFELAUNCH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6F8CE-9F55-4960-AB36-B6DA7A4D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Ship global.</a:t>
            </a:r>
          </a:p>
          <a:p xmlns:a="http://schemas.openxmlformats.org/drawingml/2006/main">
            <a:pPr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Sleep local.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F6942-FC29-49A0-AE41-42CAA81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AD5E2"/>
                </a:solidFill>
              </a:defRPr>
            </a:pPr>
            <a:r>
              <a:rPr sz="1350">
                <a:solidFill>
                  <a:srgbClr val="CAD5E2"/>
                </a:solidFill>
              </a:rPr>
              <a:t>Run a scan on your website today.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AE327-8A25-4DAB-AA7C-10DD6944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8580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07A55"/>
          </a:solidFill>
          <a:ln xmlns:a="http://schemas.openxmlformats.org/drawingml/2006/main" w="9525">
            <a:solidFill>
              <a:srgbClr val="007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AECF4-FC67-409B-9700-23DE515C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safelaunch.runany.dev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FA3AD-8B1C-472B-9B39-30809529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API: safelaunch-api.runany.dev/v1/health   ·   Repo: github.com/meesudzu/safelaunch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13B7D-23EF-4EF9-BB44-746F7500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2748E"/>
                </a:solidFill>
              </a:defRPr>
            </a:pPr>
            <a:r>
              <a:rPr sz="675">
                <a:solidFill>
                  <a:srgbClr val="62748E"/>
                </a:solidFill>
              </a:rPr>
              <a:t>11 / 11   ·   SafeLaunch · MVP   ·   2026-08-03</a:t>
            </a:r>
          </a:p>
        </p:txBody>
      </p:sp>
    </p:spTree>
    <p:extLst>
      <p:ext uri="{BB962C8B-B14F-4D97-AF65-F5344CB8AC3E}">
        <p14:creationId xmlns:p14="http://schemas.microsoft.com/office/powerpoint/2010/main" val="575622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2026-08-03T07:26:38.0960000Z</dcterms:created>
  <dcterms:modified xsi:type="dcterms:W3CDTF">2026-08-03T07:26:38.0960000Z</dcterms:modified>
</coreProperties>
</file>